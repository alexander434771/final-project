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67" r:id="rId6"/>
    <p:sldId id="268" r:id="rId7"/>
    <p:sldId id="269" r:id="rId8"/>
    <p:sldId id="264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7F8D"/>
    <a:srgbClr val="025262"/>
    <a:srgbClr val="5C6C78"/>
    <a:srgbClr val="014F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AF9686B-25BA-2B0B-1468-4182AEC03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9861D240-8C45-38C1-50EC-C9B8CCD5A7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C8BCD291-FA85-CD40-EF5B-5B2DAEE13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FE3AF794-A123-E974-5B03-F554582D2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174110C6-FE9A-3F8D-BD68-E8171009D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8441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1CD4A0B-1839-FAB5-81D1-3B4B14787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D1E150F4-29E9-B524-89E8-D87990F9D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C3B2C423-786A-F938-4184-6A4EE4F15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386FC807-47FB-C38C-1DA5-066E67D0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CA2D4B17-8E98-E959-1563-A8A9B308B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1336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6E25A26-8CA4-0235-29F9-C2A968102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EB9CC1DB-C15D-8975-873A-24E357750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7038FF4F-CCAB-EF12-B3B4-ACFCA3399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803DAE2C-665D-3DA7-1721-EECED7A4B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7DCE45A8-8855-ADDE-E883-080A55FE0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402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2803A51-0F68-7A6A-AFCE-1D948B24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31C40817-2998-F7FE-E7A4-7BF2DD8AF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CECEE8C1-5F26-B54E-6938-B2C17ADD6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735803E6-C556-96B8-C87C-D242E91DB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1DC8CB17-535C-83B3-CF99-E9A0F980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67D8EF46-88CB-40EE-35C2-DC5F98328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2594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CB12B350-3705-FB64-0005-011770E9F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3ED09336-2B7E-9611-4E05-8E794E78C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697DF55B-565B-D7C2-31D2-E95DF3D092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2CDB8876-3C74-BE6C-4C8C-02AFA9B829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xmlns="" id="{681BF023-DA78-041F-68DF-266D8DD76C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xmlns="" id="{5B569CB4-474A-3F8D-CEEA-23EE71D43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xmlns="" id="{4EE12BE3-7BD8-4ECC-598F-50EDEFCAD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xmlns="" id="{E54D6409-BDFB-98FE-FE2F-3B878EC9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5473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0DD0F07-0199-9718-38F1-16DEA028A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A0EECD3B-4F20-3646-B82F-140EF80C2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BEEE94C2-719B-8C51-941A-B994840A4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5CA7FF50-8DB9-E5DA-5303-4ED7DA10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34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xmlns="" id="{7F44448D-84D6-9D7F-A99C-5D906BA69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xmlns="" id="{864E068E-93D7-342D-952A-0534AB16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3B99EC25-DC6C-B542-8386-2A8E690CB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3858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42793E40-EC6B-93CC-5F96-4D32CEEF0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7A22C7C6-405F-38C6-8D18-9640246CA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71057A3D-DFFB-105A-907E-EB000A2558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643D17EF-0C06-4383-2C42-BF235FDB4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ED7934ED-9AE3-9A1B-BFB2-4673A0FBF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981D7FC6-3535-765D-75ED-FFC4C547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446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CC5D0E2B-1D97-5F1B-0620-42BC97DE9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7669A387-432E-3857-1A6B-CF636D57E4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61141F62-A329-67FE-1BE9-82AAF8266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A98224FB-84D4-4836-2434-FA645702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173ACDC5-186A-1590-E43C-B7B960996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5BD0DC55-EAD6-9139-D12B-33404AF74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13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678AAEB-1A8A-F8D9-EFE9-62B921396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E4D7B379-AA4A-6153-4D3D-D22C406B1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A5FD037D-5A29-1D65-F56A-4E7C1A66E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5D33BBC0-5FBD-B283-FE85-031F33AD7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0E2945E4-C638-E034-A6AA-D1F5DF48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0287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xmlns="" id="{A7119F0F-F447-922A-E87D-EEAE0AB363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E921E550-8B70-51BD-9E89-E964147C9C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1D8DD57E-370F-76DB-15C6-333387251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E173CF6D-91D5-6506-E3D4-80F42826A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A8DFADE1-989E-EBD6-6C07-816067135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6071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191007EB-1531-5748-FD5C-47A8A4BB9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36BC5490-D20A-5880-911F-E1730EBF1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ABC37C41-43A1-4E0F-6A4D-24CBFECB7D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36E2EC-76AD-43C0-A875-ADCCC9BED29A}" type="datetimeFigureOut">
              <a:rPr lang="ru-RU" smtClean="0"/>
              <a:t>18.04.2026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456038A2-BEE8-0DF0-D4EB-4E012784DA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927C12F2-345D-43F6-EE1D-304C21FB0E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A81332-AD97-40FA-BEC5-90F155AC28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6048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xmlns="" id="{8C790BE2-4E4F-4AAF-81A2-4A6F4885EBE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28B54C3-B57B-472A-B96E-1FCB67093DC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7DB3C429-F8DA-49B9-AF84-21996FCF78B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" y="559294"/>
            <a:ext cx="12191999" cy="6298279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C4C9F2B0-1044-46EB-8AEB-C3BFFDE6C2C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0" y="-428"/>
            <a:ext cx="6096001" cy="6858000"/>
          </a:xfrm>
          <a:prstGeom prst="rect">
            <a:avLst/>
          </a:prstGeom>
          <a:gradFill>
            <a:gsLst>
              <a:gs pos="13000">
                <a:srgbClr val="000000">
                  <a:alpha val="72000"/>
                </a:srgbClr>
              </a:gs>
              <a:gs pos="99000">
                <a:schemeClr val="accent1">
                  <a:lumMod val="50000"/>
                  <a:alpha val="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F015154-BAC7-4739-C6CF-A662BA46C9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5136" y="-102636"/>
            <a:ext cx="9947305" cy="2221994"/>
          </a:xfrm>
        </p:spPr>
        <p:txBody>
          <a:bodyPr>
            <a:noAutofit/>
          </a:bodyPr>
          <a:lstStyle/>
          <a:p>
            <a:r>
              <a:rPr lang="en-US" sz="8800" b="1" i="0" dirty="0" smtClean="0">
                <a:solidFill>
                  <a:srgbClr val="025262"/>
                </a:solidFill>
                <a:effectLst/>
                <a:latin typeface="Mona Sans VF"/>
              </a:rPr>
              <a:t> </a:t>
            </a:r>
            <a:r>
              <a:rPr lang="en-US" sz="5400" b="1" i="0" dirty="0">
                <a:solidFill>
                  <a:srgbClr val="014F51"/>
                </a:solidFill>
                <a:effectLst/>
                <a:latin typeface="Mona Sans VF"/>
              </a:rPr>
              <a:t/>
            </a:r>
            <a:br>
              <a:rPr lang="en-US" sz="5400" b="1" i="0" dirty="0">
                <a:solidFill>
                  <a:srgbClr val="014F51"/>
                </a:solidFill>
                <a:effectLst/>
                <a:latin typeface="Mona Sans VF"/>
              </a:rPr>
            </a:br>
            <a:r>
              <a:rPr lang="en-US" i="0" dirty="0" smtClean="0">
                <a:solidFill>
                  <a:srgbClr val="177F8D"/>
                </a:solidFill>
                <a:effectLst/>
                <a:latin typeface="Mona Sans VF"/>
              </a:rPr>
              <a:t>Searching </a:t>
            </a:r>
            <a:r>
              <a:rPr lang="en-US" i="0" dirty="0">
                <a:solidFill>
                  <a:srgbClr val="177F8D"/>
                </a:solidFill>
                <a:effectLst/>
                <a:latin typeface="Mona Sans VF"/>
              </a:rPr>
              <a:t>and storing Olympiad </a:t>
            </a:r>
            <a:r>
              <a:rPr lang="en-US" i="0" dirty="0" smtClean="0">
                <a:solidFill>
                  <a:srgbClr val="177F8D"/>
                </a:solidFill>
                <a:effectLst/>
                <a:latin typeface="Mona Sans VF"/>
              </a:rPr>
              <a:t>results</a:t>
            </a:r>
            <a:endParaRPr lang="en-US" i="0" dirty="0">
              <a:solidFill>
                <a:srgbClr val="177F8D"/>
              </a:solidFill>
              <a:effectLst/>
              <a:latin typeface="Mona Sans VF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6CF462C9-48EA-E606-FDFF-63DC1593C5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25719" y="2503352"/>
            <a:ext cx="9144000" cy="49244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Пестерев Александр Владимирович ИИ-72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xmlns="" id="{32B3ACB3-D689-442E-8A40-8680B0FEB8A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4063256" y="400727"/>
            <a:ext cx="4065484" cy="8849062"/>
          </a:xfrm>
          <a:custGeom>
            <a:avLst/>
            <a:gdLst>
              <a:gd name="connsiteX0" fmla="*/ 0 w 4065484"/>
              <a:gd name="connsiteY0" fmla="*/ 4424531 h 8849062"/>
              <a:gd name="connsiteX1" fmla="*/ 3899197 w 4065484"/>
              <a:gd name="connsiteY1" fmla="*/ 8840480 h 8849062"/>
              <a:gd name="connsiteX2" fmla="*/ 4065484 w 4065484"/>
              <a:gd name="connsiteY2" fmla="*/ 8849062 h 8849062"/>
              <a:gd name="connsiteX3" fmla="*/ 4065483 w 4065484"/>
              <a:gd name="connsiteY3" fmla="*/ 0 h 8849062"/>
              <a:gd name="connsiteX4" fmla="*/ 3899197 w 4065484"/>
              <a:gd name="connsiteY4" fmla="*/ 8581 h 8849062"/>
              <a:gd name="connsiteX5" fmla="*/ 0 w 4065484"/>
              <a:gd name="connsiteY5" fmla="*/ 4424531 h 884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65484" h="8849062">
                <a:moveTo>
                  <a:pt x="0" y="4424531"/>
                </a:moveTo>
                <a:cubicBezTo>
                  <a:pt x="0" y="6722831"/>
                  <a:pt x="1709076" y="8613167"/>
                  <a:pt x="3899197" y="8840480"/>
                </a:cubicBezTo>
                <a:lnTo>
                  <a:pt x="4065484" y="8849062"/>
                </a:lnTo>
                <a:lnTo>
                  <a:pt x="4065483" y="0"/>
                </a:lnTo>
                <a:lnTo>
                  <a:pt x="3899197" y="8581"/>
                </a:lnTo>
                <a:cubicBezTo>
                  <a:pt x="1709075" y="235897"/>
                  <a:pt x="0" y="2126232"/>
                  <a:pt x="0" y="442453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5000"/>
                </a:schemeClr>
              </a:gs>
              <a:gs pos="68000">
                <a:schemeClr val="accent1">
                  <a:alpha val="15000"/>
                </a:schemeClr>
              </a:gs>
            </a:gsLst>
            <a:lin ang="21594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56" t="19859" r="16678" b="22847"/>
          <a:stretch/>
        </p:blipFill>
        <p:spPr>
          <a:xfrm>
            <a:off x="3817016" y="3631721"/>
            <a:ext cx="4557970" cy="2535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7109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577D6B2E-37A3-429E-A37C-F30ED648728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5CEAD642-85CF-4750-8432-7C80C901F0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FA33EEAE-15D5-4119-8C1E-89D943F911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xmlns="" id="{730D8B3B-9B80-4025-B934-26DC7D7CD23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5">
            <a:extLst>
              <a:ext uri="{FF2B5EF4-FFF2-40B4-BE49-F238E27FC236}">
                <a16:creationId xmlns:a16="http://schemas.microsoft.com/office/drawing/2014/main" xmlns="" id="{1064D5D5-227B-4F66-9AEA-46F570E793B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xmlns="" id="{646B67A4-D328-4747-A82B-65E84FA4636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xmlns="" id="{B5A1B09C-1565-46F8-B70F-621C5EB48A0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C6E14EE-2752-96E9-2476-BDBFF8F6D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1743" y="231112"/>
            <a:ext cx="9593269" cy="152541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800" b="1" kern="1200" dirty="0">
                <a:solidFill>
                  <a:srgbClr val="FFFFFF"/>
                </a:solidFill>
                <a:latin typeface="+mj-lt"/>
                <a:ea typeface="+mj-ea"/>
                <a:cs typeface="Calibri" panose="020F0502020204030204" pitchFamily="34" charset="0"/>
              </a:rPr>
              <a:t>Что? Что вы собираетесь делать?</a:t>
            </a:r>
            <a:r>
              <a:rPr lang="en-US" sz="4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/>
            </a:r>
            <a:br>
              <a:rPr lang="en-US" sz="4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C516CC8-80AC-446C-A56E-9F54B721040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F4B38950-A88D-151D-C38A-FE9A5DF1E28B}"/>
              </a:ext>
            </a:extLst>
          </p:cNvPr>
          <p:cNvSpPr txBox="1"/>
          <p:nvPr/>
        </p:nvSpPr>
        <p:spPr>
          <a:xfrm>
            <a:off x="270961" y="1364430"/>
            <a:ext cx="1167578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Я совместно с Центром Талантов Кемерово разрабатываю ПЕРВЫЙ МОДУЛЬ большого проекта для поиска олимпиад по фильтру и сохранения учениками своих результатов по их итогам. Суть МОДУЛЯ, который СЕЙЧАС РАЗРАБАТЫВАЕТСЯ - парсеры и первая версия интерфейса (в терминале </a:t>
            </a:r>
            <a:r>
              <a:rPr lang="ru-RU" sz="2000" b="0" i="0" dirty="0" err="1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PyCharm</a:t>
            </a:r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) (для ИБ функции добавлена ,раньше времени, авторизация).</a:t>
            </a:r>
          </a:p>
          <a:p>
            <a:pPr algn="l"/>
            <a:endParaRPr lang="ru-RU" sz="2000" b="0" i="0" dirty="0">
              <a:solidFill>
                <a:schemeClr val="tx2">
                  <a:lumMod val="25000"/>
                  <a:lumOff val="75000"/>
                </a:schemeClr>
              </a:solidFill>
              <a:effectLst/>
              <a:latin typeface="Calibri" panose="020F0502020204030204" pitchFamily="34" charset="0"/>
            </a:endParaRPr>
          </a:p>
          <a:p>
            <a:pPr algn="l"/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Процесс работы модуля: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Пользователь вводит своё ФИО и дату рождения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Пользователю выводятся фильтры для олимпиад: класс (7), предмет (информатика), формат проведения (онлайн/очно)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Производится парсинг нескольких сайтов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Результаты парсинга сохраняются в БД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Парсер делает гугл запрос: 'олимпиада' {название олимпиады из БД} 'официальный сайт' - и копирует URL первой страницы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Результат сохраняется в БД</a:t>
            </a:r>
          </a:p>
          <a:p>
            <a:pPr algn="l">
              <a:buFont typeface="+mj-lt"/>
              <a:buAutoNum type="arabicPeriod"/>
            </a:pPr>
            <a:r>
              <a:rPr lang="ru-RU" sz="2000" b="0" i="0" dirty="0">
                <a:solidFill>
                  <a:schemeClr val="tx2">
                    <a:lumMod val="25000"/>
                    <a:lumOff val="75000"/>
                  </a:schemeClr>
                </a:solidFill>
                <a:effectLst/>
                <a:latin typeface="Calibri" panose="020F0502020204030204" pitchFamily="34" charset="0"/>
              </a:rPr>
              <a:t>Пользователю вводится список олимпиад с ссылками.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2695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591DF182-26B0-D485-C140-77D7CA025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484C6485-6528-C611-D80C-8C957835B85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32413BD-A48D-F151-6E2C-B2FA713C793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1FC076A8-D0BC-3EC9-46CD-46B50D616AF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xmlns="" id="{039B70BA-2365-62BD-3DF9-9A16D5B698B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5">
            <a:extLst>
              <a:ext uri="{FF2B5EF4-FFF2-40B4-BE49-F238E27FC236}">
                <a16:creationId xmlns:a16="http://schemas.microsoft.com/office/drawing/2014/main" xmlns="" id="{D4A7CCA2-67AB-293A-0E26-9F859F57B2F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xmlns="" id="{DDA30879-2525-6B0C-E423-A2E2197F53A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xmlns="" id="{3213CCFB-E698-FC7B-0C09-333126B8A1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5202DC7-F199-C8F7-A78C-3943861D5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072" y="-54596"/>
            <a:ext cx="11311560" cy="1525418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ctr"/>
            <a:r>
              <a:rPr lang="ru-RU" sz="3600" b="1" dirty="0">
                <a:solidFill>
                  <a:srgbClr val="FFFFFF"/>
                </a:solidFill>
              </a:rPr>
              <a:t>Зачем? \ почему? Зачем этот продукт или изделие будут покупать? Какую пользу оно может дать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41CA2860-6F0B-8243-D00D-03543DF5842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28554F6B-BE00-1334-D72B-9D851A956477}"/>
              </a:ext>
            </a:extLst>
          </p:cNvPr>
          <p:cNvSpPr txBox="1"/>
          <p:nvPr/>
        </p:nvSpPr>
        <p:spPr>
          <a:xfrm>
            <a:off x="258109" y="2172796"/>
            <a:ext cx="1167578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Смысл покупки проекта – это автоматизация процесса поиска олимпиад и хранение своих результатов. В место того, чтобы вручную смотреть сайты с олимпиадами (искать их основные сайты для регистрации и т.д.), одним выбором фильтра будет показан список олимпиад с ссылками на их основные сайты (для дальнейшего просмотра пользователем). Это банально экономит время. А после участия можно будет сохранить свои результаты.</a:t>
            </a:r>
          </a:p>
        </p:txBody>
      </p:sp>
    </p:spTree>
    <p:extLst>
      <p:ext uri="{BB962C8B-B14F-4D97-AF65-F5344CB8AC3E}">
        <p14:creationId xmlns:p14="http://schemas.microsoft.com/office/powerpoint/2010/main" val="4042791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6416448-B092-3280-86A1-57973EA82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51A4A4A2-5128-3519-EFB7-88A49985933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934CCE4E-4A1F-3981-9912-92341B2E71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1E0972C-24A6-738F-5AA7-6B1A6C62750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xmlns="" id="{9E6D8C2B-2AC4-8CFD-F372-5064B3D4FBF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5">
            <a:extLst>
              <a:ext uri="{FF2B5EF4-FFF2-40B4-BE49-F238E27FC236}">
                <a16:creationId xmlns:a16="http://schemas.microsoft.com/office/drawing/2014/main" xmlns="" id="{3799E811-6768-6FDC-8D36-94929DBB65B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xmlns="" id="{D30F77F4-DA5C-B930-AB34-9D4B47C8E74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xmlns="" id="{AA0E79A9-E73C-ADDE-1AFF-9B057728ECF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C4A9597A-CC1A-7DF4-4001-C9F0AAFAD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109" y="231112"/>
            <a:ext cx="11784539" cy="15254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ru-RU" sz="4000" b="1" dirty="0">
                <a:solidFill>
                  <a:schemeClr val="bg1"/>
                </a:solidFill>
              </a:rPr>
              <a:t>Где? Где вы собираетесь реализовывать и продавать ваше изделие?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B84107C6-4128-8FC5-71BB-077DCD748C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92C2955-0830-7762-44C0-ABD9181D9431}"/>
              </a:ext>
            </a:extLst>
          </p:cNvPr>
          <p:cNvSpPr txBox="1"/>
          <p:nvPr/>
        </p:nvSpPr>
        <p:spPr>
          <a:xfrm>
            <a:off x="258109" y="1943285"/>
            <a:ext cx="1167578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Я собираюсь реализовать проект в виде отдельной вкладки на новом сайте Центра Талантов Кемерово (если всё будет нормально работать и руководство Центра Талантов допустят до этой стадии). На данный момент планируется тестирования на своём сайте и только потом бесплатное тестирование на новом сайте Центром Талантов Кемерово, дальнейшее продвижение проекта будет продуманно после удачного тестирования. Продажа продукта будет на сайте, на котором будет первое тестирование, в формате подписки, как для обычных пользователей, так и для образовательных учреждений (</a:t>
            </a:r>
            <a:r>
              <a:rPr lang="ru-RU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Freemium</a:t>
            </a:r>
            <a:r>
              <a:rPr lang="ru-RU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– для Центра Талантов Кемерово; Premium – для учеников и преподавателей образовательного учреждения, купившего соответственную подписку; Стандартная подписка – для обычных пользователей).</a:t>
            </a:r>
          </a:p>
        </p:txBody>
      </p:sp>
    </p:spTree>
    <p:extLst>
      <p:ext uri="{BB962C8B-B14F-4D97-AF65-F5344CB8AC3E}">
        <p14:creationId xmlns:p14="http://schemas.microsoft.com/office/powerpoint/2010/main" val="1826583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A95B51C7-05FF-F698-8356-BCDF803E2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5E2073B2-05E8-D4D2-E8DD-ACC170DDE6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47B49CEF-1A76-4801-1953-6F3C3FB223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631CDC0F-F71A-261C-811B-E7D9761EBC6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xmlns="" id="{30D2D7E2-42DC-A155-63F0-90152592545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5">
            <a:extLst>
              <a:ext uri="{FF2B5EF4-FFF2-40B4-BE49-F238E27FC236}">
                <a16:creationId xmlns:a16="http://schemas.microsoft.com/office/drawing/2014/main" xmlns="" id="{B51BC2C7-E075-F82F-7441-86CA5EE4A96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xmlns="" id="{2D9DA886-76A4-5388-9698-28CE3C24697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xmlns="" id="{95D5A4E2-829C-6F8D-7709-1865BEAD0AA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DDE032B-1BF9-E046-7FE3-3025FBFA9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255" y="308488"/>
            <a:ext cx="11905487" cy="15254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ru-RU" sz="3200" b="1" dirty="0">
                <a:solidFill>
                  <a:schemeClr val="bg1"/>
                </a:solidFill>
              </a:rPr>
              <a:t>Когда? Будет ли сезонность выпуска продукта? Когда вы сможете продавать ваш продукт? Ситуация, которая приведёт к покупке?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DBD998A5-33FA-DEDF-521D-80AD3D80DE2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1BEB69C1-F339-C2B3-9720-5DBB5F1194D9}"/>
              </a:ext>
            </a:extLst>
          </p:cNvPr>
          <p:cNvSpPr txBox="1"/>
          <p:nvPr/>
        </p:nvSpPr>
        <p:spPr>
          <a:xfrm>
            <a:off x="143255" y="2367383"/>
            <a:ext cx="1209353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Для работы проекта сезонности нет. Но нагрузка и частота использования целиком зависят от олимпиад. Пик по используемости и нагрузке - сентябрь-декабрь (все массово ищут олимпиады для участия). Второй пик - это март-май (все массово сохраняют результаты).А январь-февраль и июнь-август - это периоды </a:t>
            </a:r>
            <a:r>
              <a:rPr lang="ru-RU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техобслужевания</a:t>
            </a:r>
            <a:r>
              <a:rPr lang="ru-RU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Ситуация, которая приведёт к покупке - автоматизации поиска олимпиад (банально экономит время) и сохранение результатов (ты не потеряешь свои достижения, сейчас потерял бумажку – и всё ☹). </a:t>
            </a:r>
          </a:p>
        </p:txBody>
      </p:sp>
    </p:spTree>
    <p:extLst>
      <p:ext uri="{BB962C8B-B14F-4D97-AF65-F5344CB8AC3E}">
        <p14:creationId xmlns:p14="http://schemas.microsoft.com/office/powerpoint/2010/main" val="1170587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5B13B7B-CD7E-ECDD-B08F-833BEBB73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A14F0AA6-1C07-B041-867E-6496A4A5468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B671D6F0-F52F-E303-0410-F43869B009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48A2AFBB-9BF3-0090-5E12-AD6DDCF360F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xmlns="" id="{96E2D416-E87C-DA02-25F9-B355685081C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5">
            <a:extLst>
              <a:ext uri="{FF2B5EF4-FFF2-40B4-BE49-F238E27FC236}">
                <a16:creationId xmlns:a16="http://schemas.microsoft.com/office/drawing/2014/main" xmlns="" id="{EFFA12FD-248A-6377-0FD6-AF0E0A5AE98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xmlns="" id="{5578D055-2041-AB90-A241-8FCE88EE2F6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xmlns="" id="{A787CF1C-CBCA-6892-09A4-2038D816444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ED006DA-60B2-E5F0-1382-69C6ECDBF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1743" y="231112"/>
            <a:ext cx="9593269" cy="15254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ru-RU" b="1" dirty="0">
                <a:solidFill>
                  <a:schemeClr val="bg1"/>
                </a:solidFill>
              </a:rPr>
              <a:t>Кто? Кто будет покупать? Целевая аудитория?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D178CA1F-8525-4D78-1C1F-16D986A892E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D8025F7-999C-2174-605C-83ADDFF74549}"/>
              </a:ext>
            </a:extLst>
          </p:cNvPr>
          <p:cNvSpPr txBox="1"/>
          <p:nvPr/>
        </p:nvSpPr>
        <p:spPr>
          <a:xfrm>
            <a:off x="270961" y="2122206"/>
            <a:ext cx="1167578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Целевой аудиторией являются образовательные учреждения (на данный момент и в первую очередь Центр Талантов Кемерово), в дальнейшем будет продуманна система для продвижения на массовую аудиторию. Образовательные учреждения будут покупать продукт из-за автоматизации поиска всех проводимых (и прошедших) олимпиад, ссылки на их основные сайты для более конкретного изучения (банально экономит время) и сохранение результатов учеников. Это посредствует повышению качества образования, улучшению репутации, привлечению финансирования, развитию инфраструктуры и программ, мотивации преподавателей и учеников.</a:t>
            </a:r>
          </a:p>
        </p:txBody>
      </p:sp>
    </p:spTree>
    <p:extLst>
      <p:ext uri="{BB962C8B-B14F-4D97-AF65-F5344CB8AC3E}">
        <p14:creationId xmlns:p14="http://schemas.microsoft.com/office/powerpoint/2010/main" val="1297491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CCC4A87C-958A-987A-ED12-1B1EDD4B3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482367E4-8689-CE50-77B3-C52E0BB3953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5A344743-B375-05C4-2EBA-1222BF5C933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111B8B23-A62D-8D97-FD77-C7EF4B834BB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xmlns="" id="{0D4D4A70-AF20-0970-AC7E-BB8FD7D74F1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5">
            <a:extLst>
              <a:ext uri="{FF2B5EF4-FFF2-40B4-BE49-F238E27FC236}">
                <a16:creationId xmlns:a16="http://schemas.microsoft.com/office/drawing/2014/main" xmlns="" id="{C612676E-0C94-0F13-E04E-589AA0B93B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xmlns="" id="{926EF8BC-613F-E989-5976-5F1D6793DDA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xmlns="" id="{40C43068-98B0-BE04-F248-BD514E110AB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256B79C-C6CA-EEFD-114E-1DF507D3E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481" y="446994"/>
            <a:ext cx="11495409" cy="878706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Какая бизнес-модель (b2b, b2g, b2c)?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ACFDFB0-4C10-48F0-763F-D17E0CB30A7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D1FC7E00-F855-79A9-4E1E-2CAC336C1FD3}"/>
              </a:ext>
            </a:extLst>
          </p:cNvPr>
          <p:cNvSpPr txBox="1"/>
          <p:nvPr/>
        </p:nvSpPr>
        <p:spPr>
          <a:xfrm>
            <a:off x="258109" y="1943285"/>
            <a:ext cx="1167578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 данный момент – это b2b, т.к. проект будет находиться в стадии тестирования на новом сайте Центром Талантов Кемерово. Соответственно он направлен на продвижение по другим Центрам Талантов, что является сотрудничеством с Фондом Мельниченко и по его рекомендации будет возможно расширение на другие образовательные учреждения. В дальнейшем можно продвигать проект в модели b2c, для массового распространения (с помощью стандартных подписок). И в модели b2g, для сотрудничества с государством и возможным продвижением на иностранные рынки (с помощью Premium подписки).</a:t>
            </a:r>
          </a:p>
        </p:txBody>
      </p:sp>
    </p:spTree>
    <p:extLst>
      <p:ext uri="{BB962C8B-B14F-4D97-AF65-F5344CB8AC3E}">
        <p14:creationId xmlns:p14="http://schemas.microsoft.com/office/powerpoint/2010/main" val="1348463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xmlns="" id="{0E30439A-8A5B-46EC-8283-9B6B031D40D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5CEAD642-85CF-4750-8432-7C80C901F0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FA33EEAE-15D5-4119-8C1E-89D943F911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730D8B3B-9B80-4025-B934-26DC7D7CD23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xmlns="" id="{B5A1B09C-1565-46F8-B70F-621C5EB48A0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82D0BC86-AAB2-5DAE-5209-F1EBE110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2073" y="2929812"/>
            <a:ext cx="9647852" cy="10425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Спасибо за внимание!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8C516CC8-80AC-446C-A56E-9F54B721040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53947E58-F088-49F1-A3D1-DEA690192E8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25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647</Words>
  <Application>Microsoft Office PowerPoint</Application>
  <PresentationFormat>Широкоэкранный</PresentationFormat>
  <Paragraphs>24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Mona Sans VF</vt:lpstr>
      <vt:lpstr>Тема Office</vt:lpstr>
      <vt:lpstr>  Searching and storing Olympiad results</vt:lpstr>
      <vt:lpstr>Что? Что вы собираетесь делать? </vt:lpstr>
      <vt:lpstr>Зачем? \ почему? Зачем этот продукт или изделие будут покупать? Какую пользу оно может дать</vt:lpstr>
      <vt:lpstr>Где? Где вы собираетесь реализовывать и продавать ваше изделие?</vt:lpstr>
      <vt:lpstr>Когда? Будет ли сезонность выпуска продукта? Когда вы сможете продавать ваш продукт? Ситуация, которая приведёт к покупке?</vt:lpstr>
      <vt:lpstr>Кто? Кто будет покупать? Целевая аудитория?</vt:lpstr>
      <vt:lpstr>Какая бизнес-модель (b2b, b2g, b2c)?</vt:lpstr>
      <vt:lpstr>Спасибо за внимание!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SSOR  (Searching and storing Olympiad results)</dc:title>
  <dc:creator>Unicum_Student</dc:creator>
  <cp:lastModifiedBy>Student</cp:lastModifiedBy>
  <cp:revision>7</cp:revision>
  <dcterms:created xsi:type="dcterms:W3CDTF">2026-03-21T05:47:01Z</dcterms:created>
  <dcterms:modified xsi:type="dcterms:W3CDTF">2026-04-18T11:37:52Z</dcterms:modified>
</cp:coreProperties>
</file>